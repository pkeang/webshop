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194560" cy="6959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88952" cy="2743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13E26E"/>
                </a:solidFill>
                <a:latin typeface="Calibri"/>
              </a:rPr>
              <a:t>PARTNERSHIP PROPOSAL  · 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WEBSHOP GAMEFI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CFCFCF"/>
                </a:solidFill>
                <a:latin typeface="Calibri"/>
              </a:rPr>
              <a:t>Two Solution Options  ·  Playpark × Bitkub Group  ·  Board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7276" y="4434840"/>
            <a:ext cx="914400" cy="36576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8A8A"/>
                </a:solidFill>
                <a:latin typeface="Calibri"/>
              </a:rPr>
              <a:t>20 May 2026  ·  Prepared by BBT Product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วาระการนำเสนอ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2 / 23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67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786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ทำไม Web3 Gaming · ทำไมตอนนี้ · Competitive Landscape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6324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44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Concept 1 — Full Web3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558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Primary + Secondary Marketplace · NFT · Royalty 5%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8404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221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Concept 2B — Quick 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330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USDT Payment Channel ผ่าน KUB Wallet บน PlayMall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61772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0915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5994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Side-by-Side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10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Timeline · Scope · Risk · Strategic Position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" y="5394959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86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766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Decision Framework &amp; The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87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สิ่งที่ขอจาก Playpark ·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สรุปข้อเสนอ 2 ทางเลือก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3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4864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Concept 1 — Full Web3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Timeline: 4–6 เดือน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Webshop (Primary Market) + Marketplace (Secondary)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Multi-game support · NFT ownership · EIP-2981 Royalty 5%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Smart Wallet (ERC-4337) · Gas-less UX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Compliance: ก.ล.ต. + ธปท. + AMLO clearance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Strategic Value: สูงสุด · Long-term moat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286000"/>
            <a:ext cx="54864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359152"/>
            <a:ext cx="54864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3DA3FF"/>
                </a:solidFill>
                <a:latin typeface="Calibri"/>
              </a:rP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4320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Concept 2B — Quick 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337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DA3FF"/>
                </a:solidFill>
                <a:latin typeface="Calibri"/>
              </a:rPr>
              <a:t>Timeline: 1–2 เดือน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65760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เพิ่มช่องทาง USDT ผ่าน KUB Wallet บน PlayMall เดิม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Playpark สมัคร Merchant กับ KUB Wallet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ใช้ API/SDK ที่ KUB Wallet มีอยู่แล้ว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Compliance: รับ benefit จาก Bitkub Group license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• Strategic Value: กลาง · Validate demand · Low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บริบทของ Partnership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FCFCF"/>
                </a:solidFill>
                <a:latin typeface="Calibri"/>
              </a:rPr>
              <a:t>Playpark + Bitkub Group ไม่ใช่ partnership ใหม่ — เป็นการต่อยอดความสัมพันธ์ที่มีอยู่ในระดับ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3657600" cy="2852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13E26E"/>
                </a:solidFill>
                <a:latin typeface="Calibri"/>
              </a:rPr>
              <a:t>PLAYPARK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20+ ปี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ในวงการ game publishing ไทย · MapleStory · Yulgang · Audition · FLYFF Universe · Lineage 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301752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3090672"/>
            <a:ext cx="3657600" cy="2852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13E26E"/>
                </a:solidFill>
                <a:latin typeface="Calibri"/>
              </a:rPr>
              <a:t>KUB WALLET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1M+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Bitkub NEXT — licensed custodial wallet · KUB Chain (EVM-compatible)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301752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3090672"/>
            <a:ext cx="3657600" cy="2852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13E26E"/>
                </a:solidFill>
                <a:latin typeface="Calibri"/>
              </a:rPr>
              <a:t>KUBPLAY JV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5204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since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44348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Asphere Innovations × Bitkub Capital — TSX by Astronize เป็น precedent ที่พิสูจน์แล้ว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ทำไมต้องลงมือตอนนี้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7432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27432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3E26E"/>
                </a:solidFill>
                <a:latin typeface="Calibri"/>
              </a:rPr>
              <a:t>32M+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Thai Gamers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ฐานผู้เล่นในไทย · Mobile dominant 75%+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6704" y="2286000"/>
            <a:ext cx="27432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6704" y="2359152"/>
            <a:ext cx="27432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514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3E26E"/>
                </a:solidFill>
                <a:latin typeface="Calibri"/>
              </a:rPr>
              <a:t>5M+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Bitkub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977639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บัญชี Bitkub Exchange · ขุมพลัง user funnel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2286000"/>
            <a:ext cx="27432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2359152"/>
            <a:ext cx="27432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514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A3FF"/>
                </a:solidFill>
                <a:latin typeface="Calibri"/>
              </a:rPr>
              <a:t>USD 50B+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Web3 Gaming 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977639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DappRadar 2024 — ตลาด global Web3 gaming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25712" y="2286000"/>
            <a:ext cx="27432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25712" y="2359152"/>
            <a:ext cx="27432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25146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B96DFF"/>
                </a:solidFill>
                <a:latin typeface="Calibri"/>
              </a:rPr>
              <a:t>Wave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5204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True Ownership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977639"/>
            <a:ext cx="23774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Industry shift จาก P2E สู่ AAA Web3 (Immutable, Ronin)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13E26E"/>
                </a:solidFill>
                <a:latin typeface="Calibri"/>
              </a:rPr>
              <a:t>หาก Playpark ไม่ลงมือใน 12 เดือนนี้ — competitor อย่าง NEXT Market จะ lock-in market share ของ Thai Web3 gamers ก่อน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เปรียบเทียบกับ NEXT Market (Unifi Wallet)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6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20040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048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มิติ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2860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40487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NEXT Market (Unifi)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286000"/>
            <a:ext cx="4023360" cy="45720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40487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0F0F"/>
                </a:solidFill>
                <a:latin typeface="Calibri"/>
              </a:rPr>
              <a:t>BBT × Playpark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Wallet Provider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7432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880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Unifi Wallet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7432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880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KUB Wallet — Bitkub 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00400"/>
            <a:ext cx="320040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Exchange Backing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32004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33375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Limited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32004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33375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Bitkub Exchange (5M+ users)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794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Webshop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6576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37947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Built from scratch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6576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7947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PlayMall (existing user base)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51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License 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41148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94760" y="42519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Wallet-only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41148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42519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Full Bitkub Group licensed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572000"/>
            <a:ext cx="320040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Co-marketing Reach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45720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60" y="47091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Wallet users 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4572000"/>
            <a:ext cx="4023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18120" y="47091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Wallet + Exchange + Playpark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029200"/>
            <a:ext cx="320040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1663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On-chain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50292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94760" y="5166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KUB Chain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5029200"/>
            <a:ext cx="4023360" cy="4572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5166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KUB Chain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13E26E"/>
                </a:solidFill>
                <a:latin typeface="Calibri"/>
              </a:rPr>
              <a:t>Differentiator: vertical integration ของ Bitkub Group ที่ NEXT Market/Unifi Wallet ไม่มี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THE TWO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ภาพรวม 2 ทางเลือก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7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CFCFCF"/>
                </a:solidFill>
                <a:latin typeface="Calibri"/>
              </a:rPr>
              <a:t>ทั้ง 2 ทางเลือกเป็น independent project — Playpark สามารถเลือกทำอันใดอันหนึ่ง หรือทำพร้อมกันได้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4864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99232"/>
            <a:ext cx="5486400" cy="3035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3E26E"/>
                </a:solidFill>
                <a:latin typeface="Calibri"/>
              </a:rPr>
              <a:t>OPTION A · CONCEPT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Full Web3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Webshop + Marketplace ครบวงจร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NFT-based item ownership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Secondary market with royalty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Per-game branding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Cross-game inventory (Phase 2+)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Strategic: long-term Web3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5352" y="2926080"/>
            <a:ext cx="54864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2999232"/>
            <a:ext cx="5486400" cy="3035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DA3FF"/>
                </a:solidFill>
                <a:latin typeface="Calibri"/>
              </a:rPr>
              <a:t>OPTION B · CONCEPT 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383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Quick Win (PlayMall add-on)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93192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เพิ่มช่องทาง USDT บน PlayMall เดิม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ไม่มี NFT (item เป็น centralized เหมือนเดิม)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ไม่มี secondary market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PlayMall UX เดิม + payment add-on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ใช้ KUB Wallet API + SDK</a:t>
            </a:r>
          </a:p>
          <a:p>
            <a:pPr algn="l"/>
            <a:r>
              <a:rPr sz="1200" b="0" i="0">
                <a:solidFill>
                  <a:srgbClr val="CFCFCF"/>
                </a:solidFill>
                <a:latin typeface="Calibri"/>
              </a:rPr>
              <a:t>Strategic: validate demand · low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 · CONCEPT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Full Web3 Platform —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8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13E26E"/>
                </a:solidFill>
                <a:latin typeface="Calibri"/>
              </a:rPr>
              <a:t>เปลี่ยน Playpark จาก game publisher เป็น Web3 ecosystem 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3E26E"/>
                </a:solidFill>
                <a:latin typeface="Calibri"/>
              </a:rPr>
              <a:t>+30-40%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ARPU Uplift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Royalty 5% จาก secondary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2926080"/>
            <a:ext cx="27432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DA3FF"/>
                </a:solidFill>
                <a:latin typeface="Calibri"/>
              </a:rPr>
              <a:t>20%+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RMT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Capture underground item trading volume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926080"/>
            <a:ext cx="27432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B96DFF"/>
                </a:solidFill>
                <a:latin typeface="Calibri"/>
              </a:rPr>
              <a:t>100K+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Web3 Wallets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Web3-native user base ภายใน 12 เดือน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926080"/>
            <a:ext cx="27432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25712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9F43"/>
                </a:solidFill>
                <a:latin typeface="Calibri"/>
              </a:rPr>
              <a:t>First AAA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Brand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Web3 publisher คนแรกของ SEA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 · USER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Buy NFT → Trade on Secondary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ส่วนนี้จะใส่ screenshots จาก mockup-concept-1.html — แสดง user flow step-by-step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Login with PlayID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44952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Browse Game Hub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92624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3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Select Item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0296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0296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Pay with USDT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87967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7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Receive NFT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59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35639" y="29260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5639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6999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6999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List on Secondary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User flow screenshots จะใส่หลังจาก PM capture เสร็จ — ดู mockup-concept-1.html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Revenue Stream — Concept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10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3E26E"/>
                </a:solidFill>
                <a:latin typeface="Calibri"/>
              </a:rPr>
              <a:t>PRIMARY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2–5%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Platform Fee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จากการขาย in-game item ของ publisher · split: Publisher 90-95% / BBT 2-5%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286000"/>
            <a:ext cx="36576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DA3FF"/>
                </a:solidFill>
                <a:latin typeface="Calibri"/>
              </a:rPr>
              <a:t>SECONDARY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2% + 5%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Platform Fee + Royalty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Platform fee 2% (BBT) + Royalty 5% (Playpark/Publisher) · seller ได้ ~93%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286000"/>
            <a:ext cx="36576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96DFF"/>
                </a:solidFill>
                <a:latin typeface="Calibri"/>
              </a:rPr>
              <a:t>VALUE-ADD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TBD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Optional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Listing fee · Auction premium · Gas sponsorship economics · Premium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ตัวเลข % ทั้งหมดเป็น default reference — สามารถปรับตามข้อตกลง partnership กับ Playpark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 ·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4–6 เดือน · Aggressive MVP-first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11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3E26E"/>
                </a:solidFill>
                <a:latin typeface="Calibri"/>
              </a:rPr>
              <a:t>Phase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23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2–3 wks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Prototype &amp;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23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PRD · BRD · Legal opinion engagement (parallel)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11274552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3639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278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3DA3FF"/>
                </a:solidFill>
                <a:latin typeface="Calibri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0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4–6 wks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Compliance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Engage counsel · sandbox application · entity structure (parallel)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40480"/>
            <a:ext cx="11274552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1363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0507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B96DFF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8–12 wks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Dev + Pilot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977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Smart contracts · backend · frontend · KYC · Testnet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1274552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9087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8231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9F43"/>
                </a:solidFill>
                <a:latin typeface="Calibri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754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2–3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Closed Beta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1 game pilot · invited users · real testnet purchases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59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46811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559551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3E26E"/>
                </a:solidFill>
                <a:latin typeface="Calibri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532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Open Public 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5532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Full marketing · public access · multi-game expansion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13E26E"/>
                </a:solidFill>
                <a:latin typeface="Calibri"/>
              </a:rPr>
              <a:t>Aggressive — สำเร็จได้ด้วย parallel workstream + leverage Bitkub Group reusable infrastructure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A · RISK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ประเด็นที่ต้องจัดการ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12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FF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5656"/>
                </a:solidFill>
                <a:latin typeface="Calibri"/>
              </a:rPr>
              <a:t>REGULATORY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ก.ล.ต. / ธปท. clearance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Digital Asset Royal Decree 2561 · ทธ. 5/2565 means-of-payment guideline · sandbox application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286000"/>
            <a:ext cx="36576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9F43"/>
                </a:solidFill>
                <a:latin typeface="Calibri"/>
              </a:rPr>
              <a:t>KYC / AMLO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Transaction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NDID integration · transactions ≥ 100,000 THB ต้อง KYC · automated AMLO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286000"/>
            <a:ext cx="3657600" cy="73152"/>
          </a:xfrm>
          <a:prstGeom prst="rect">
            <a:avLst/>
          </a:prstGeom>
          <a:solidFill>
            <a:srgbClr val="F5C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5C53B"/>
                </a:solidFill>
                <a:latin typeface="Calibri"/>
              </a:rPr>
              <a:t>SMART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Security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ต้องผ่าน Hacken / Certik / Beosin audit ก่อน mainnet · pen test · bug bounty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36576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3DA3FF"/>
                </a:solidFill>
                <a:latin typeface="Calibri"/>
              </a:rPr>
              <a:t>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4-6 month aggressive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เสี่ยงล่าช้าหาก parallel workstream ไม่ sync · ต้องการ executive commitment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160520"/>
            <a:ext cx="36576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96DFF"/>
                </a:solidFill>
                <a:latin typeface="Calibri"/>
              </a:rPr>
              <a:t>PUBLISHER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Game IP rights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Nexon / NCSoft / etc. ต้อง approve การแปลง in-game item เป็น NFT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416052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13E26E"/>
                </a:solidFill>
                <a:latin typeface="Calibri"/>
              </a:rPr>
              <a:t>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Web3 adoption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User adoption ของ NFT-based item ในตลาดไทยยังไม่แน่นอน — ต้องลงทุน education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B · CONCEPT 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Quick Win —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13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3DA3FF"/>
                </a:solidFill>
                <a:latin typeface="Calibri"/>
              </a:rPr>
              <a:t>เพิ่มช่องทาง USDT บน PlayMall เดิม — Quick win, low risk, validate demand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3DA3FF"/>
                </a:solidFill>
                <a:latin typeface="Calibri"/>
              </a:rPr>
              <a:t>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เดือน Time-to-market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เร็วกว่า Concept 1 หลายเท่า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6704" y="2926080"/>
            <a:ext cx="27432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6704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3E26E"/>
                </a:solidFill>
                <a:latin typeface="Calibri"/>
              </a:rPr>
              <a:t>+10%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PlayMall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เป้าหมายภายใน 90 วันหลัง launch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2926080"/>
            <a:ext cx="27432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B96DFF"/>
                </a:solidFill>
                <a:latin typeface="Calibri"/>
              </a:rP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License เพิ่ม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ใช้ license ของ Bitkub Group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926080"/>
            <a:ext cx="27432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25712" y="2999232"/>
            <a:ext cx="2743200" cy="3127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31089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9F43"/>
                </a:solidFill>
                <a:latin typeface="Calibri"/>
              </a:rPr>
              <a:t>Reversible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4023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Channel-level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443484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ถ้าไม่เวิร์คสามารถปิดได้ทันที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B · USER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USDT Payment via KUB Wallet QR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14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ส่วนนี้จะใส่ screenshots จาก mockup-concept-2b.html — แสดง USDT payment flow step-by-step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Browse PlayMall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44952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Select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92624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92624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3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216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0296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0296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5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5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Choose KUB Wallet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87967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87967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Scan QR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95559" y="2743200"/>
            <a:ext cx="1828800" cy="2743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35639" y="292608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5639" y="3017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6999" y="3840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SCREENSHOT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6999" y="49377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 Delivered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[ User flow screenshots จะใส่หลังจาก PM capture เสร็จ — ดู mockup-concept-2b.html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B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Revenue Stream — Concept 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DA3FF"/>
                </a:solidFill>
                <a:latin typeface="Calibri"/>
              </a:rPr>
              <a:t>MERCHANT FEE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ค่าธรรมเนียม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KUB Wallet เก็บ % ของแต่ละ transaction · settle เป็น THB หรือ USDT ตามตกลง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28600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3E26E"/>
                </a:solidFill>
                <a:latin typeface="Calibri"/>
              </a:rPr>
              <a:t>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T+1 / 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Currency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THB (T+1) หรือ USDT (real-time) · Playpark เลือก default ได้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3296" y="2286000"/>
            <a:ext cx="36576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83296" y="2359152"/>
            <a:ext cx="3657600" cy="35844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4688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96DFF"/>
                </a:solidFill>
                <a:latin typeface="Calibri"/>
              </a:rPr>
              <a:t>INCREMENTAL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743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+10%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Sales Uplift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416052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เป้าหมาย incremental sales จากกลุ่ม crypto user · KUB Wallet 1M + Bitkub Exchange 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8A8A"/>
                </a:solidFill>
                <a:latin typeface="Calibri"/>
              </a:rPr>
              <a:t>ตัวเลข fee % รอ confirm จาก KUB Wallet Merchant team · ปรับได้ตามขนาด volume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B ·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1–2 เดือน · Week-by-Week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16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74552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DA3FF"/>
                </a:solidFill>
                <a:latin typeface="Calibri"/>
              </a:rP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Discovery &amp;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231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Merchant onboarding · KYB · contract signing (fast-track เพราะ group partner)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3639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278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3E26E"/>
                </a:solidFill>
                <a:latin typeface="Calibri"/>
              </a:rPr>
              <a:t>Week 2–4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API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004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เชื่อม PlayMall ↔ KUB Wallet Payment API · webhook setup · sandbox 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1274552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1363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6DFF"/>
                </a:solidFill>
                <a:latin typeface="Calibri"/>
              </a:rPr>
              <a:t>Week 5–6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77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QA &amp; Closed Beta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9776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Internal QA · invited beta users · 1 pilot game (Yulgang/MapleStory)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17720"/>
            <a:ext cx="11274552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9087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9F43"/>
                </a:solidFill>
                <a:latin typeface="Calibri"/>
              </a:rPr>
              <a:t>Week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Public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754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เปิด USDT payment ทุกเกม · co-marketing kick-off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59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468112"/>
            <a:ext cx="11274552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59551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3E26E"/>
                </a:solidFill>
                <a:latin typeface="Calibri"/>
              </a:rPr>
              <a:t>Week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5532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Iteration &amp;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32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ปรับ UX จาก data · performance review · roadmap decision (Concept 1 next?)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3DA3FF"/>
                </a:solidFill>
                <a:latin typeface="Calibri"/>
              </a:rPr>
              <a:t>Fast-track ได้เพราะ leverage PlayMall + KUB Wallet Merchant program ที่มีอยู่แล้ว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OPTION B · RISK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ประเด็นที่ต้องจัดการ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13E26E"/>
                </a:solidFill>
                <a:latin typeface="Calibri"/>
              </a:rP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Rely on Bitkub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Playpark ไม่ต้องขอ license เพิ่ม · ใช้ infrastructure ของ Bitkub Online ที่ licensed อยู่แล้ว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2286000"/>
            <a:ext cx="36576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F9F43"/>
                </a:solidFill>
                <a:latin typeface="Calibri"/>
              </a:rPr>
              <a:t>FX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USDT/THB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Settlement T+1 อาจ expose Playpark ต่อ FX delta · ต้อง hedge หรือ settle 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2286000"/>
            <a:ext cx="3657600" cy="73152"/>
          </a:xfrm>
          <a:prstGeom prst="rect">
            <a:avLst/>
          </a:prstGeom>
          <a:solidFill>
            <a:srgbClr val="F5C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3296" y="235915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F5C53B"/>
                </a:solidFill>
                <a:latin typeface="Calibri"/>
              </a:rPr>
              <a:t>REFUND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USDT amount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0632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Refund คืน USDT จำนวนเดิม · user รับ FX risk · ต้องเขียนในสัญญา + Privacy Notice ชัด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36576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3DA3FF"/>
                </a:solidFill>
                <a:latin typeface="Calibri"/>
              </a:rPr>
              <a:t>CUSTOMER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Crypto inquiries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CS Playpark ต้องเทรน — handle scan QR fail, wrong network, insufficient 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160520"/>
            <a:ext cx="36576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13E26E"/>
                </a:solidFill>
                <a:latin typeface="Calibri"/>
              </a:rP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Low complexity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Webhook + REST API · isolated จาก PlayMall core · failure-tolerant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4160520"/>
            <a:ext cx="36576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83296" y="4233672"/>
            <a:ext cx="36576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1896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96DFF"/>
                </a:solidFill>
                <a:latin typeface="Calibri"/>
              </a:rPr>
              <a:t>DEMAND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4572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Adoption uncertainty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4937759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เป้า 10% sales จาก USDT ต้อง defend · benchmark vs Astronize / NEXT Market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DECISION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Side-by-Side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18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3657600" cy="41148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มิติเปรียบเทียบ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286000"/>
            <a:ext cx="4023360" cy="41148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3774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0F0F"/>
                </a:solidFill>
                <a:latin typeface="Calibri"/>
              </a:rPr>
              <a:t>Concept 1 — Full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4023360" cy="411480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0F0F"/>
                </a:solidFill>
                <a:latin typeface="Calibri"/>
              </a:rPr>
              <a:t>Concept 2B — Quick Win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365760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072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697480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80720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4–6 เดือน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697480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80720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1–2 เดือน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90672"/>
            <a:ext cx="365760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004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090672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2004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Webshop + Marketplace ครบ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090672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2004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USDT payment add-on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83864"/>
            <a:ext cx="365760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935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Item Ownership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483864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59359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NFT (on-chain)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3483864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3593592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Centralized (เดิม)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877056"/>
            <a:ext cx="365760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98678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Secondary Market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877056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398678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Yes · with royalty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3877056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986784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70248"/>
            <a:ext cx="365760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37997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Compliance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4270248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4379976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Medium–High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270248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379976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663440"/>
            <a:ext cx="365760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477316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Reversibility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4663440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60" y="477316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Low (committed)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663440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773168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High (channel-level)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056631"/>
            <a:ext cx="365760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1663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Strategic Value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5056631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51960" y="5166359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Long-term moat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5056631"/>
            <a:ext cx="4023360" cy="3931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5166359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Validate demand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449823"/>
            <a:ext cx="365760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559551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Time-to-Revenue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0" y="5449823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60" y="5559551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Month 4 (MVP)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5449823"/>
            <a:ext cx="4023360" cy="393192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5559551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Week 6 (beta)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WHY BITKUB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Differentiator vs NEXT Market / Unifi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19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486400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54864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0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3E26E"/>
                </a:solidFill>
                <a:latin typeface="Calibri"/>
              </a:rPr>
              <a:t>VERTICAL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Chain + Wallet + Exchange + Off-ramp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Bitkub Group มีครบ end-to-end stack · NEXT Market ใช้ Unifi Wallet ที่ไม่มี exchange backing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2286000"/>
            <a:ext cx="5486400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2359152"/>
            <a:ext cx="54864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4505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DA3FF"/>
                </a:solidFill>
                <a:latin typeface="Calibri"/>
              </a:rPr>
              <a:t>EXCHANGE 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743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5M+ Bitkub user funnel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1546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Bitkub Exchange เป็น user acquisition channel ที่ NEXT Market/Unifi Wallet ไม่มี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5486400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33672"/>
            <a:ext cx="54864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251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96DFF"/>
                </a:solidFill>
                <a:latin typeface="Calibri"/>
              </a:rPr>
              <a:t>LICENSED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Full Bitkub Group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Bitkub Online เป็น licensed custodial wallet · Bitkub Exchange เป็น licensed digital asset exchange · ครบทุกใบ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4160520"/>
            <a:ext cx="5486400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4233672"/>
            <a:ext cx="5486400" cy="1709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3251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F9F43"/>
                </a:solidFill>
                <a:latin typeface="Calibri"/>
              </a:rPr>
              <a:t>KUBPLAY JV PRECEDENT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partnership since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502920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Asphere × Bitkub Capital JV มีอยู่แล้ว · TSX by Astronize เป็น case study ที่พิสูจน์โมเดล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DECISION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กรอบการตัดสินใจสำหรับ Playpark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20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CFCFCF"/>
                </a:solidFill>
                <a:latin typeface="Calibri"/>
              </a:rPr>
              <a:t>Playpark สามารถเลือกได้ 3 ทาง — โดยขึ้นกับ risk appetite + strategic priority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99923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13E26E"/>
                </a:solidFill>
                <a:latin typeface="Calibri"/>
              </a:rPr>
              <a:t>PATH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063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Concept 1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Full commitment ไปสู่ Web3 platform · เหมาะ ถ้า Playpark พร้อม strategic investment ระยะยาว · ROI สูงสุดถ้า execute ดี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11274552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0507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965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3DA3FF"/>
                </a:solidFill>
                <a:latin typeface="Calibri"/>
              </a:rPr>
              <a:t>PATH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69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Concept 2B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1480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Low-risk validation · เหมาะ ถ้า Playpark ต้องการทดสอบ demand ก่อน · จำกัด value 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37760"/>
            <a:ext cx="11274552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01091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023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B96DFF"/>
                </a:solidFill>
                <a:latin typeface="Calibri"/>
              </a:rPr>
              <a:t>PATH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074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ทำพร้อมกันทั้ง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206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Parallel execution · 2B launch ก่อน · 1 ตามมาภายหลัง · ต้องการ resource มากกว่า · ลด time-to-Web3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สิ่งที่ BBT ขอจาก Playpark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21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13E26E"/>
                </a:solidFill>
                <a:latin typeface="Calibri"/>
              </a:rP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เลือก Path 1 / 2 / 3 ภายใน 2 สัปดาห์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56032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ให้ BBT planning resource + timeline ได้ทันที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1274552" cy="73152"/>
          </a:xfrm>
          <a:prstGeom prst="rect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6499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3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564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DA3FF"/>
                </a:solidFill>
                <a:latin typeface="Calibri"/>
              </a:rPr>
              <a:t>STAKEHOLDER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Designate Executive Sponsor + Tech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เพื่อ coordinate cross-functional ที่ฝั่ง Playpark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11274552" cy="73152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7083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622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F9F43"/>
                </a:solidFill>
                <a:latin typeface="Calibri"/>
              </a:rPr>
              <a:t>BUDGET BAND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ระบุ budget range คร่าวๆ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720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เพื่อให้ BBT scope detail ให้ตรง · ตัวเลขสุดท้าย confirm ใน Phase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11274552" cy="73152"/>
          </a:xfrm>
          <a:prstGeom prst="rect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76672"/>
            <a:ext cx="11274552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080" y="5486400"/>
            <a:ext cx="548640" cy="548640"/>
          </a:xfrm>
          <a:prstGeom prst="ellipse">
            <a:avLst/>
          </a:prstGeom>
          <a:solidFill>
            <a:srgbClr val="B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F0F0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4681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B96DFF"/>
                </a:solidFill>
                <a:latin typeface="Calibri"/>
              </a:rPr>
              <a:t>WORKING SESSION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15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Joint workshop · 2 วัน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5778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FCF"/>
                </a:solidFill>
                <a:latin typeface="Calibri"/>
              </a:rPr>
              <a:t>ทำ deep-dive technical + commercial alignment ก่อนเริ่ม Phase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194560" cy="6959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286000"/>
            <a:ext cx="12188952" cy="2743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400">
                <a:solidFill>
                  <a:srgbClr val="13E26E"/>
                </a:solidFill>
                <a:latin typeface="Calibri"/>
              </a:rPr>
              <a:t>DISCUSSION  ·  60 MIN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455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7276" y="4297680"/>
            <a:ext cx="914400" cy="36576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CFCFCF"/>
                </a:solidFill>
                <a:latin typeface="Calibri"/>
              </a:rPr>
              <a:t>Thank you · ขอบคุณครับ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A8A"/>
                </a:solidFill>
                <a:latin typeface="Calibri"/>
              </a:rPr>
              <a:t>service-bbt-product-management@bitkub.com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bt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"/>
            <a:ext cx="1463040" cy="4639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77824"/>
            <a:ext cx="12188952" cy="22860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13E26E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Compliance Reference — Thai Regulatory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457200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00">
                <a:solidFill>
                  <a:srgbClr val="8A8A8A"/>
                </a:solidFill>
                <a:latin typeface="Calibri"/>
              </a:rP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822960" cy="2286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800">
                <a:solidFill>
                  <a:srgbClr val="8A8A8A"/>
                </a:solidFill>
                <a:latin typeface="Calibri"/>
              </a:rPr>
              <a:t>23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59152"/>
            <a:ext cx="11274552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ก.ล.ต. (SEC)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23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Digital Asset Royal Decree 2561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Custodial wallet ต้องมี license · Concept 2B: ใช้ KUB Wallet (Bitkub Online licensed) · Concept 1: ใช้ non-custodial Smart Wallet (no license needed for AA)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36392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11274552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ทธ. 5/2565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73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Means-of-Payment Ban (March 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73552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DA business operator ห้ามรับสินทรัพย์ดิจิทัลเป็น means of payment · Licensed Wallet ที่แปลง USDT → THB ก่อน settlement ถือเป็น compliant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86784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11274552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239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ธปท. (BOT)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123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Foreign Exchange &amp;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23944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USDT settlement ต้อง comply กับ FX regulation · Bitkub Online มี process ที่ผ่าน BOT แล้ว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37176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10328"/>
            <a:ext cx="11274552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743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AMLO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KYC / Transaction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74336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Transactions ≥ 100,000 THB ต้อง KYC · NDID integration หรือ KYC vendor · Bitkub Online มี KYC pipeline พร้อมใช้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87568"/>
            <a:ext cx="11274552" cy="73152"/>
          </a:xfrm>
          <a:prstGeom prst="rect">
            <a:avLst/>
          </a:prstGeom>
          <a:solidFill>
            <a:srgbClr val="13E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4552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82472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E26E"/>
                </a:solidFill>
                <a:latin typeface="Calibri"/>
              </a:rPr>
              <a:t>PDPA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824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Personal Data Protection 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824728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FCF"/>
                </a:solidFill>
                <a:latin typeface="Calibri"/>
              </a:rPr>
              <a:t>User data ต้อง encrypt at rest + in transit · access logs retained 5 ปี · Privacy Notice ต้อง update ก่อน launch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8A8A8A"/>
                </a:solidFill>
                <a:latin typeface="Calibri"/>
              </a:rPr>
              <a:t>ดูรายละเอียดเต็มที่ docs/research/legal-compliance-review-2026-05-14.md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